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90" r:id="rId2"/>
    <p:sldId id="291" r:id="rId3"/>
    <p:sldId id="292" r:id="rId4"/>
    <p:sldId id="293" r:id="rId5"/>
    <p:sldId id="294" r:id="rId6"/>
    <p:sldId id="295" r:id="rId7"/>
    <p:sldId id="310" r:id="rId8"/>
    <p:sldId id="311" r:id="rId9"/>
    <p:sldId id="312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kosh.indiaai.gov.in/web/datasets/details/district_wise_pension_data_under_the_national_social_assistance_programme_nsap_1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Preeti/nsap-eligibility-agent.gi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41722269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Preeti Mishrilal Choudhary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preetichoudhary032006@gmail.com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9307389805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Project-</a:t>
            </a:r>
            <a:r>
              <a:rPr lang="en-IN" sz="2800" dirty="0"/>
              <a:t>GovTech &amp; Public Welfare Administration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</a:t>
            </a:r>
            <a:r>
              <a:rPr lang="en-IN" sz="2800" dirty="0"/>
              <a:t>AI-Driven NSAP Eligibility Evaluator</a:t>
            </a:r>
            <a:r>
              <a:rPr lang="en-US" sz="2800" b="1" dirty="0"/>
              <a:t> </a:t>
            </a:r>
            <a:endParaRPr lang="en-IN" sz="28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2DD5F-9A99-AFC9-B6DE-6AF681AFB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454" y="3613697"/>
            <a:ext cx="1153746" cy="115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68923" y="953770"/>
            <a:ext cx="11723077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The Challenge</a:t>
            </a:r>
            <a:r>
              <a:rPr lang="en-US" sz="2000" dirty="0"/>
              <a:t> </a:t>
            </a:r>
          </a:p>
          <a:p>
            <a:pPr fontAlgn="base"/>
            <a:r>
              <a:rPr lang="en-US" sz="2000" dirty="0"/>
              <a:t>The National Social Assistance Program (NSAP) is a flagship social security and welfare program by the Government of India. It aims to provide financial assistance to the elderly, widows, and persons with disabilities belonging to below-poverty-line (BPL) households. The program consists of several sub-schemes, each with specific eligibility criteria. Manually verifying applications and assigning the correct scheme can be a time-consuming and error-prone process. Delays or incorrect allocation can prevent deserving individuals from receiving timely financial aid. Your task is to design, build, and evaluate a multi-class classification model that can accurately predict the most appropriate NSAP scheme for an applicant based on their demographic and socio-economic data.</a:t>
            </a:r>
          </a:p>
          <a:p>
            <a:pPr fontAlgn="base"/>
            <a:endParaRPr lang="en-US" sz="2000" dirty="0"/>
          </a:p>
          <a:p>
            <a:pPr fontAlgn="base"/>
            <a:r>
              <a:rPr lang="en-US" sz="2000" b="1" dirty="0"/>
              <a:t>The Objective</a:t>
            </a:r>
            <a:r>
              <a:rPr lang="en-US" sz="2000" dirty="0"/>
              <a:t> </a:t>
            </a:r>
          </a:p>
          <a:p>
            <a:pPr fontAlgn="base"/>
            <a:r>
              <a:rPr lang="en-IN" sz="2000" dirty="0"/>
              <a:t>To build an AI-powered web application that automates the eligibility prediction for India's National Social Assistance Programme (NSAP) schemes — IGNOAPS, IGNWPS, IGNDPS, and NFBS — using a hybrid classification approach combining deterministic rule-based logic with IBM watsonx Granite-4 large language model inference.</a:t>
            </a:r>
          </a:p>
          <a:p>
            <a:pPr fontAlgn="base"/>
            <a:r>
              <a:rPr lang="en-IN" sz="2000" dirty="0"/>
              <a:t>The system assists government officials and applicants in accurately and efficiently determining the most appropriate welfare scheme based on demographic and socio-economic inputs, reducing manual processing time and minimizing mis-allocation of social benefits to BPL households</a:t>
            </a:r>
            <a:r>
              <a:rPr lang="en-IN" sz="1100" dirty="0"/>
              <a:t>.</a:t>
            </a:r>
            <a:r>
              <a:rPr lang="en-US" sz="1100" dirty="0"/>
              <a:t> </a:t>
            </a:r>
          </a:p>
          <a:p>
            <a:pPr fontAlgn="base"/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468923" y="430550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Proposed Solution: AI-Powered NSAP Eligibility Evaluator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Interactive Citizen Portal:</a:t>
            </a:r>
            <a:r>
              <a:rPr lang="en-IN" sz="2000" dirty="0"/>
              <a:t> A clean, accessible frontend interface for citizens and Common Service Centre (CSC) operators to input socio-economic and demographic parameters.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Hybrid Classification &amp; Rule Engine:</a:t>
            </a:r>
            <a:r>
              <a:rPr lang="en-IN" sz="2000" dirty="0"/>
              <a:t> Machine learning models predict the primary welfare scheme, backed by deterministic Python tools to enforce strict statutory guidelines.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Agentic Orchestration via watsonx:</a:t>
            </a:r>
            <a:r>
              <a:rPr lang="en-IN" sz="2000" dirty="0"/>
              <a:t> Leverages IBM watsonx Orchestrate and Granite foundation models to dynamically route inputs, call validation tools, and handle edge cases.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Automated Audit &amp; Decision Explanations:</a:t>
            </a:r>
            <a:r>
              <a:rPr lang="en-IN" sz="2000" dirty="0"/>
              <a:t> Instantly generates auditable eligibility reports, benefit calculations, and missing-document checklists for welfare verification officers.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Scalable IBM Cloud Deployment:</a:t>
            </a:r>
            <a:r>
              <a:rPr lang="en-IN" sz="2000" dirty="0"/>
              <a:t> Built on IBM Cloud Lite infrastructure to deliver secure, low-latency, and cost-effective welfare categorization.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11220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IBM watsonx Granite-4</a:t>
            </a:r>
            <a:r>
              <a:rPr lang="en-IN" sz="2000" dirty="0"/>
              <a:t> (LLM classification)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IBM watsonx.ai</a:t>
            </a:r>
            <a:r>
              <a:rPr lang="en-IN" sz="2000" dirty="0"/>
              <a:t> (inference API)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IBM watsonx Orchestrate</a:t>
            </a:r>
            <a:r>
              <a:rPr lang="en-IN" sz="2000" dirty="0"/>
              <a:t> (agent deployment)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Python 3</a:t>
            </a:r>
            <a:r>
              <a:rPr lang="en-IN" sz="2000" dirty="0"/>
              <a:t> with </a:t>
            </a:r>
            <a:r>
              <a:rPr lang="en-IN" sz="2000" b="1" dirty="0" err="1"/>
              <a:t>pydantic</a:t>
            </a:r>
            <a:r>
              <a:rPr lang="en-IN" sz="2000" dirty="0"/>
              <a:t>, </a:t>
            </a:r>
            <a:r>
              <a:rPr lang="en-IN" sz="2000" b="1" dirty="0"/>
              <a:t>requests</a:t>
            </a:r>
            <a:r>
              <a:rPr lang="en-IN" sz="2000" dirty="0"/>
              <a:t>, </a:t>
            </a:r>
            <a:r>
              <a:rPr lang="en-IN" sz="2000" b="1" dirty="0"/>
              <a:t>python- </a:t>
            </a:r>
            <a:r>
              <a:rPr lang="en-IN" sz="2000" b="1" dirty="0" err="1"/>
              <a:t>dotenv</a:t>
            </a:r>
            <a:r>
              <a:rPr lang="en-IN" sz="2000" dirty="0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HTML5 / CSS3 / Vanilla JavaScript</a:t>
            </a:r>
            <a:r>
              <a:rPr lang="en-IN" sz="2000" dirty="0"/>
              <a:t> (frontend)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Git &amp; GitHub</a:t>
            </a:r>
            <a:r>
              <a:rPr lang="en-IN" sz="2000" dirty="0"/>
              <a:t> (version control)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i-FI" sz="2000" b="1" dirty="0"/>
              <a:t>AI Kosh dataset link </a:t>
            </a:r>
            <a:r>
              <a:rPr lang="fi-FI" sz="2000" dirty="0"/>
              <a:t> </a:t>
            </a:r>
            <a:r>
              <a:rPr lang="fi-FI" sz="2000" dirty="0">
                <a:hlinkClick r:id="rId3"/>
              </a:rPr>
              <a:t>https://aikosh.indiaai.gov.in/web/datasets/details/district_wise_pension_data_under_the_national_social_assistance_programme_nsap_1.html</a:t>
            </a:r>
            <a:endParaRPr lang="fi-FI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i-FI" sz="2000" dirty="0"/>
              <a:t> </a:t>
            </a:r>
            <a:endParaRPr lang="en-IN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IN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IN" sz="2400" dirty="0"/>
          </a:p>
          <a:p>
            <a:br>
              <a:rPr lang="en-IN" sz="1800" dirty="0"/>
            </a:b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740790" y="518932"/>
            <a:ext cx="6988708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Required Files created using IBM bob -</a:t>
            </a: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531FE4-21DE-12C5-EA6A-9F27008FA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90" y="1293599"/>
            <a:ext cx="9497353" cy="504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2FC234-6CA6-C05E-527F-D39F97CA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" y="549433"/>
            <a:ext cx="10840720" cy="575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3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E89DE1-5E5E-0589-A999-52C3D34F6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30" y="501253"/>
            <a:ext cx="11022105" cy="585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4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8AC1E8-511E-A1A4-6A0D-026ED61B9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17" y="524559"/>
            <a:ext cx="10934366" cy="580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22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8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0F0F50-50D2-3488-C7A2-A9F40DFD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59" y="1047261"/>
            <a:ext cx="9395838" cy="499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C8AEC4-EB63-F836-C315-2EFFAECFB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35" y="648676"/>
            <a:ext cx="9964800" cy="52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D995B-B622-21D4-073B-5CA6D082A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952728"/>
            <a:ext cx="9864687" cy="530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758093" y="885249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758093" y="1820984"/>
            <a:ext cx="83937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Autonomous Orchestration:</a:t>
            </a:r>
            <a:r>
              <a:rPr lang="en-IN" sz="2000" dirty="0"/>
              <a:t> Evaluates applicant profiles dynamically and routes cases to the correct NSAP sub-scheme (IGNOAPS, IGNWPS, IGNDPS, NFBS, Annapurna).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Deterministic Tool Calling:</a:t>
            </a:r>
            <a:r>
              <a:rPr lang="en-IN" sz="2000" dirty="0"/>
              <a:t> Triggers backend policy logic (nsap_scheme_details.py) via watsonx Orchestrate to strictly enforce BPL, age, and disability criteria.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IN" sz="2000" b="1" dirty="0"/>
              <a:t>Explainable Reasoning:</a:t>
            </a:r>
            <a:r>
              <a:rPr lang="en-IN" sz="2000" dirty="0"/>
              <a:t> Uses IBM Granite models to generate transparent, auditable </a:t>
            </a:r>
            <a:r>
              <a:rPr lang="en-IN" sz="2000" b="1" dirty="0"/>
              <a:t>Human-in-the-Loop Safeguards:</a:t>
            </a:r>
            <a:r>
              <a:rPr lang="en-IN" sz="2000" dirty="0"/>
              <a:t> Flags borderline or conflicting demographic data for officer review, preventing fund misallocation.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 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793192" y="1042133"/>
            <a:ext cx="44753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404 token are used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EAEF9E-6BAE-7737-6035-CBFF6793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92" y="1973279"/>
            <a:ext cx="6984268" cy="353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</a:t>
            </a:r>
            <a:r>
              <a:rPr lang="en-US" sz="2800" b="1" dirty="0">
                <a:sym typeface="Times New Roman"/>
              </a:rPr>
              <a:t>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EE595-DB53-A48C-EBE4-0FCC79CE9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84" y="775064"/>
            <a:ext cx="10553513" cy="593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</a:t>
            </a:r>
            <a:r>
              <a:rPr lang="en-US" sz="2800" b="1" dirty="0">
                <a:sym typeface="Times New Roman"/>
              </a:rPr>
              <a:t>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DB42C2-7D74-C55D-2E7C-9FA8136EA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12" y="816977"/>
            <a:ext cx="10476457" cy="589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</a:t>
            </a:r>
            <a:r>
              <a:rPr lang="en-US" sz="2800" b="1" dirty="0">
                <a:sym typeface="Times New Roman"/>
              </a:rPr>
              <a:t>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D2963-77A5-0894-E245-37BB52226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67" y="934015"/>
            <a:ext cx="9711779" cy="546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613116" y="218909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13116" y="824054"/>
            <a:ext cx="11301984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1. Hybrid Decision Architecture (ML + Deterministic Policy Guardrails)</a:t>
            </a:r>
          </a:p>
          <a:p>
            <a:pPr lvl="0"/>
            <a:r>
              <a:rPr lang="en-IN" sz="2000" dirty="0"/>
              <a:t>Combines multi-class machine learning prediction with deterministic statutory validation tools.</a:t>
            </a:r>
          </a:p>
          <a:p>
            <a:pPr lvl="0"/>
            <a:r>
              <a:rPr lang="en-IN" sz="2000" dirty="0"/>
              <a:t>Eliminates generative AI hallucinations and classification drift by strictly verifying output against Government of India gazette rules.</a:t>
            </a:r>
          </a:p>
          <a:p>
            <a:r>
              <a:rPr lang="en-IN" sz="2000" b="1" dirty="0"/>
              <a:t>2. Agentic Autonomous Tool Calling via watsonx Orchestrate</a:t>
            </a:r>
          </a:p>
          <a:p>
            <a:pPr lvl="0"/>
            <a:r>
              <a:rPr lang="en-IN" sz="2000" dirty="0"/>
              <a:t>Moves beyond static form processing to an active multi-agent pipeline using IBM Granite foundation models.</a:t>
            </a:r>
          </a:p>
          <a:p>
            <a:pPr lvl="0"/>
            <a:r>
              <a:rPr lang="en-IN" sz="2000" dirty="0"/>
              <a:t>Automatically queries sub-scheme rule engines, computes state/central pension shares, and validates edge cases without manual routing.</a:t>
            </a:r>
          </a:p>
          <a:p>
            <a:r>
              <a:rPr lang="en-IN" sz="2000" b="1" dirty="0"/>
              <a:t>3. Explainable &amp; Auditable Welfare AI (XAI)</a:t>
            </a:r>
          </a:p>
          <a:p>
            <a:pPr lvl="0"/>
            <a:r>
              <a:rPr lang="en-IN" sz="2000" dirty="0"/>
              <a:t>Delivers transparent, step-by-step audit trails alongside every eligibility verdict for government verification officers.</a:t>
            </a:r>
          </a:p>
          <a:p>
            <a:pPr lvl="0"/>
            <a:r>
              <a:rPr lang="en-IN" sz="2000" dirty="0"/>
              <a:t>Provides clear, jargon-free explanations to applicants detailing approval criteria or specific missing documentation.</a:t>
            </a:r>
          </a:p>
          <a:p>
            <a:r>
              <a:rPr lang="en-IN" sz="2000" b="1" dirty="0"/>
              <a:t>4. Low-Resource, Production-Ready Cloud Deployment</a:t>
            </a:r>
          </a:p>
          <a:p>
            <a:pPr lvl="0"/>
            <a:r>
              <a:rPr lang="en-IN" sz="2000" dirty="0"/>
              <a:t>Optimized for IBM Cloud Lite environments using parameter-efficient foundation models (</a:t>
            </a:r>
            <a:r>
              <a:rPr lang="en-IN" sz="2000" dirty="0" err="1"/>
              <a:t>ibm</a:t>
            </a:r>
            <a:r>
              <a:rPr lang="en-IN" sz="2000" dirty="0"/>
              <a:t>/granite-4-h-small).</a:t>
            </a:r>
          </a:p>
          <a:p>
            <a:pPr lvl="0"/>
            <a:r>
              <a:rPr lang="en-IN" sz="2000" dirty="0"/>
              <a:t>Minimizes computational overhead while maintaining enterprise-grade latency and high precision across rural demographic distributions.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https://github.com/CPreeti/nsap-eligibility-agent.git</a:t>
            </a:r>
            <a:endParaRPr lang="en-US" sz="20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79278" y="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79278" y="749606"/>
            <a:ext cx="12012722" cy="409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>
                <a:latin typeface="+mn-lt"/>
              </a:rPr>
              <a:t>1. Multimodal Document Ingestion &amp; Verification</a:t>
            </a:r>
          </a:p>
          <a:p>
            <a:pPr lvl="0"/>
            <a:r>
              <a:rPr lang="en-IN" sz="2000" dirty="0">
                <a:latin typeface="+mn-lt"/>
              </a:rPr>
              <a:t>Integrate OCR and computer vision pipelines to automatically extract and verify data directly from physical ration cards, disability certificates, and Aadhaar cards.</a:t>
            </a:r>
          </a:p>
          <a:p>
            <a:pPr lvl="0"/>
            <a:r>
              <a:rPr lang="en-IN" sz="2000" dirty="0">
                <a:latin typeface="+mn-lt"/>
              </a:rPr>
              <a:t>Reduce manual data entry errors at common service </a:t>
            </a:r>
            <a:r>
              <a:rPr lang="en-IN" sz="2000" dirty="0" err="1">
                <a:latin typeface="+mn-lt"/>
              </a:rPr>
              <a:t>centers</a:t>
            </a:r>
            <a:r>
              <a:rPr lang="en-IN" sz="2000" dirty="0">
                <a:latin typeface="+mn-lt"/>
              </a:rPr>
              <a:t> (CSCs) by automating document authenticity checks.</a:t>
            </a:r>
          </a:p>
          <a:p>
            <a:r>
              <a:rPr lang="en-IN" sz="2000" b="1" dirty="0">
                <a:latin typeface="+mn-lt"/>
              </a:rPr>
              <a:t>2. Multilingual Voice &amp; Vernacular Conversational Agents</a:t>
            </a:r>
          </a:p>
          <a:p>
            <a:pPr lvl="0"/>
            <a:r>
              <a:rPr lang="en-IN" sz="2000" dirty="0">
                <a:latin typeface="+mn-lt"/>
              </a:rPr>
              <a:t>Deploy speech-to-text and text-to-speech interfaces supporting regional Indian languages to bridge digital literacy barriers for rural citizens.</a:t>
            </a:r>
          </a:p>
          <a:p>
            <a:pPr lvl="0"/>
            <a:r>
              <a:rPr lang="en-IN" sz="2000" dirty="0">
                <a:latin typeface="+mn-lt"/>
              </a:rPr>
              <a:t>Enable applicants to check scheme status, eligibility criteria, and grievance resolutions via conversational voice bots.</a:t>
            </a:r>
          </a:p>
          <a:p>
            <a:r>
              <a:rPr lang="en-IN" sz="2000" b="1" dirty="0">
                <a:latin typeface="+mn-lt"/>
              </a:rPr>
              <a:t>3. Direct Integration with National Databases &amp; Portals</a:t>
            </a:r>
          </a:p>
          <a:p>
            <a:pPr lvl="0"/>
            <a:r>
              <a:rPr lang="en-IN" sz="2000" dirty="0">
                <a:latin typeface="+mn-lt"/>
              </a:rPr>
              <a:t>Establish secure API bridges with the National Social Assistance Programme (NSAP) portal, SECC database, and </a:t>
            </a:r>
            <a:r>
              <a:rPr lang="en-IN" sz="2000" dirty="0" err="1">
                <a:latin typeface="+mn-lt"/>
              </a:rPr>
              <a:t>DigiLocker</a:t>
            </a:r>
            <a:r>
              <a:rPr lang="en-IN" sz="2000" dirty="0">
                <a:latin typeface="+mn-lt"/>
              </a:rPr>
              <a:t> for instant beneficiary record synchronization.</a:t>
            </a:r>
          </a:p>
          <a:p>
            <a:pPr lvl="0"/>
            <a:r>
              <a:rPr lang="en-IN" sz="2000" dirty="0">
                <a:latin typeface="+mn-lt"/>
              </a:rPr>
              <a:t>Automate Direct Benefit Transfer (DBT) eligibility checks to accelerate disbursal timelines from months to minutes.</a:t>
            </a:r>
          </a:p>
          <a:p>
            <a:r>
              <a:rPr lang="en-IN" sz="2000" b="1" dirty="0">
                <a:latin typeface="+mn-lt"/>
              </a:rPr>
              <a:t>4. Predictive Fraud Detection &amp; Ghost Beneficiary Audits</a:t>
            </a:r>
          </a:p>
          <a:p>
            <a:pPr lvl="0"/>
            <a:r>
              <a:rPr lang="en-IN" sz="2000" dirty="0">
                <a:latin typeface="+mn-lt"/>
              </a:rPr>
              <a:t>Implement unsupervised anomaly detection to identify duplicate applications, false BPL claims, or fraudulent scheme </a:t>
            </a:r>
            <a:r>
              <a:rPr lang="en-IN" sz="2000" dirty="0" err="1">
                <a:latin typeface="+mn-lt"/>
              </a:rPr>
              <a:t>enrollments</a:t>
            </a:r>
            <a:r>
              <a:rPr lang="en-IN" sz="2000" dirty="0">
                <a:latin typeface="+mn-lt"/>
              </a:rPr>
              <a:t> across districts.</a:t>
            </a:r>
          </a:p>
          <a:p>
            <a:pPr lvl="0"/>
            <a:r>
              <a:rPr lang="en-IN" sz="2000" dirty="0">
                <a:latin typeface="+mn-lt"/>
              </a:rPr>
              <a:t>Continuously update eligibility profiles against municipal mortality registers to ensure social welfare funds reach genuine beneficiaries.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445180" y="31596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3EF1F1-DC0B-2F96-FADF-D773910EC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32" y="1062892"/>
            <a:ext cx="7055157" cy="547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4C8F75-3BA0-729B-403D-0ED2ECC85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54" y="970602"/>
            <a:ext cx="9128708" cy="547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1035</Words>
  <Application>Microsoft Office PowerPoint</Application>
  <PresentationFormat>Widescreen</PresentationFormat>
  <Paragraphs>101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preeti choudhary</cp:lastModifiedBy>
  <cp:revision>4</cp:revision>
  <dcterms:created xsi:type="dcterms:W3CDTF">2025-07-08T05:06:56Z</dcterms:created>
  <dcterms:modified xsi:type="dcterms:W3CDTF">2026-09-08T16:36:47Z</dcterms:modified>
</cp:coreProperties>
</file>